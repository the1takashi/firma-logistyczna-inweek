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-18"/>
      <p:regular r:id="rId15"/>
      <p:bold r:id="rId16"/>
      <p:italic r:id="rId17"/>
      <p:boldItalic r:id="rId18"/>
    </p:embeddedFont>
    <p:embeddedFont>
      <p:font typeface="Merriweather" panose="00000500000000000000" pitchFamily="2" charset="-18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1277391"/>
            <a:ext cx="9001125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Bazy Danych InWeek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071663"/>
            <a:ext cx="1428750" cy="285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385988"/>
            <a:ext cx="8572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BBF24"/>
                </a:solidFill>
                <a:latin typeface="DM Sans"/>
                <a:ea typeface="DM Sans"/>
                <a:cs typeface="DM Sans"/>
                <a:sym typeface="DM Sans"/>
              </a:rPr>
              <a:t>Prezentacja Projektu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193678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Wykonali: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688978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Radosław Szynal | Jerzy Zegadłowicz | Szymon Wolski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5184278"/>
            <a:ext cx="8572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Rzeszów, rok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2175" y="381000"/>
            <a:ext cx="18383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950" y="1246375"/>
            <a:ext cx="5334000" cy="550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52550"/>
            <a:ext cx="5334000" cy="5505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381000"/>
            <a:ext cx="11620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Analiza Stanu Wyjściowego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0" y="1047750"/>
            <a:ext cx="12192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90600" y="1981200"/>
            <a:ext cx="476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Pierwsze podejście 27.11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05600" y="1981200"/>
            <a:ext cx="47605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Cel Projektu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86550" y="2492125"/>
            <a:ext cx="45339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Zarządzanie bazą danych: Nadawcy, odbiorcy oraz ewidencja pracowników (kurierzy i magazynierzy).</a:t>
            </a:r>
            <a:endParaRPr sz="15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Obsługa floty: Przypisywanie i zarządzanie pojazdami transportowymi.</a:t>
            </a:r>
            <a:endParaRPr sz="15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Rejestracja zamówień: Szczegółowe parametry paczek. </a:t>
            </a:r>
            <a:endParaRPr sz="15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Pełny tracking: Historia statusów, śledzenie trasy i weryfikacja miejsca dostawy.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600" y="201930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05600" y="20193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019925" y="3933825"/>
            <a:ext cx="6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4" title="614248478_746260581888644_7809705747388771902_n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3475" y="2369050"/>
            <a:ext cx="3128525" cy="4171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2175" y="381000"/>
            <a:ext cx="18383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6987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66987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66987"/>
            <a:ext cx="3492549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381000"/>
            <a:ext cx="11620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Wymagania Użytkowników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0" y="1047750"/>
            <a:ext cx="12192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84223" y="37385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Nadawca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7250" y="4252912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Rejestracja zleceń, generowanie etykiet, podgląd historii nadań.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562523" y="37385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Odbiorca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35549" y="42529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Śledzenie paczki (tracking) bez logowania, potwierdzenie odbioru.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40822" y="37385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Kurier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13849" y="42529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Mobilny dostęp do listy paczek, zmiana statusów w czasie rzeczywistym.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1950" y="29479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9479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549" y="2947987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2175" y="381000"/>
            <a:ext cx="18383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1923157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Diagramy UML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297090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Diagram przypadków użycia obrazuje interakcje głównych aktorów z systemem InWeek.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95325" y="3961507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3961507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Nadawca: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Rejestracja, płatności, etykiety.</a:t>
            </a:r>
            <a:endParaRPr/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2375" y="1045050"/>
            <a:ext cx="5358124" cy="476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95797" y="4647307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472" y="4647307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Kurier: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Obsługa kursu, odbiór z magazynu.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797" y="5047357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472" y="5047357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Magazynier: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Zarządzanie sortownią.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95325" y="4304407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4304407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Odbiorca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Sprawdza status i odbiera paczkę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0" y="381000"/>
            <a:ext cx="1447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687600"/>
            <a:ext cx="3006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Diagram ERD</a:t>
            </a:r>
            <a:endParaRPr sz="100"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6177925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highlight>
                  <a:srgbClr val="1E293B"/>
                </a:highlight>
                <a:latin typeface="DM Sans"/>
                <a:ea typeface="DM Sans"/>
                <a:cs typeface="DM Sans"/>
                <a:sym typeface="DM Sans"/>
              </a:rPr>
              <a:t>Wizualizacja encji oraz wstępnego pomysłu na realizację projektu relacji.</a:t>
            </a:r>
            <a:endParaRPr/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600" y="237550"/>
            <a:ext cx="8823751" cy="509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7"/>
          <p:cNvCxnSpPr/>
          <p:nvPr/>
        </p:nvCxnSpPr>
        <p:spPr>
          <a:xfrm rot="10800000" flipH="1">
            <a:off x="-10625" y="5435475"/>
            <a:ext cx="12208500" cy="84900"/>
          </a:xfrm>
          <a:prstGeom prst="straightConnector1">
            <a:avLst/>
          </a:prstGeom>
          <a:noFill/>
          <a:ln w="76200" cap="flat" cmpd="sng">
            <a:solidFill>
              <a:srgbClr val="FBBF2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0" y="381000"/>
            <a:ext cx="1447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52550"/>
            <a:ext cx="5334000" cy="550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52550"/>
            <a:ext cx="5334000" cy="550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381000"/>
            <a:ext cx="11620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Normalizacja Bazy Danych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0" y="1047750"/>
            <a:ext cx="12192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990600" y="1981200"/>
            <a:ext cx="47605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Proces Normalizacji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90600" y="2638425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Baza została doprowadzona do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trzeciej postaci normalnej (3NF)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w celu eliminacji redundancji.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705600" y="1981200"/>
            <a:ext cx="476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Relacje i </a:t>
            </a:r>
            <a:r>
              <a:rPr lang="en-US" sz="1950" b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Więzi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705600" y="2638425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Zdefiniowano kluczowe relacje zapewniające spójność logiczną: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168314" y="3895613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327713" y="4569675"/>
            <a:ext cx="4152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Usunięcie zależności przechodnich.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294450" y="3886075"/>
            <a:ext cx="415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ydzielenie słowników (Statusy, Gabaryty, Metody Płatności).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169663" y="3571763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236338" y="3571763"/>
            <a:ext cx="4152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Atomowość danych w tabeli Klienci.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019925" y="3581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086600" y="3581400"/>
            <a:ext cx="4152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1:N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dla relacji Magazyn-Kurs czy Zamówienie-Paczka.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019925" y="4191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086600" y="4191000"/>
            <a:ext cx="4152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Denormalizacja Celowa: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Tabela Adresy (brak pełnego słownika kodów pocztowych dla wydajności).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172089" y="455758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0" y="381000"/>
            <a:ext cx="1447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5687600"/>
            <a:ext cx="3006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Model relacyjny (3NF)</a:t>
            </a:r>
            <a:endParaRPr sz="100"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6177925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highlight>
                  <a:srgbClr val="1E293B"/>
                </a:highlight>
                <a:latin typeface="DM Sans"/>
                <a:ea typeface="DM Sans"/>
                <a:cs typeface="DM Sans"/>
                <a:sym typeface="DM Sans"/>
              </a:rPr>
              <a:t>Finalna struktura z uwzględnieniem kluczy obcych i słowników, znormalizowana do 3NF.</a:t>
            </a:r>
            <a:endParaRPr/>
          </a:p>
        </p:txBody>
      </p:sp>
      <p:cxnSp>
        <p:nvCxnSpPr>
          <p:cNvPr id="180" name="Google Shape;180;p19"/>
          <p:cNvCxnSpPr/>
          <p:nvPr/>
        </p:nvCxnSpPr>
        <p:spPr>
          <a:xfrm rot="10800000" flipH="1">
            <a:off x="-10625" y="5435475"/>
            <a:ext cx="12208500" cy="84900"/>
          </a:xfrm>
          <a:prstGeom prst="straightConnector1">
            <a:avLst/>
          </a:prstGeom>
          <a:noFill/>
          <a:ln w="76200" cap="flat" cmpd="sng">
            <a:solidFill>
              <a:srgbClr val="FBBF2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Obraz 2">
            <a:extLst>
              <a:ext uri="{FF2B5EF4-FFF2-40B4-BE49-F238E27FC236}">
                <a16:creationId xmlns:a16="http://schemas.microsoft.com/office/drawing/2014/main" id="{C114744C-D43D-9D91-07CC-8AD52B296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912" y="232144"/>
            <a:ext cx="8411668" cy="4909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9750" y="381000"/>
            <a:ext cx="21907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381000"/>
            <a:ext cx="11620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Zaawansowana Logika (Constraints)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0" y="1047750"/>
            <a:ext cx="12192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71500" y="2405062"/>
            <a:ext cx="11049000" cy="1695450"/>
          </a:xfrm>
          <a:prstGeom prst="roundRect">
            <a:avLst>
              <a:gd name="adj" fmla="val 4494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143000" y="2595562"/>
            <a:ext cx="102870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Mechanizm XOR (Łuk Wykluczający):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4338637"/>
            <a:ext cx="11049000" cy="1381125"/>
          </a:xfrm>
          <a:prstGeom prst="roundRect">
            <a:avLst>
              <a:gd name="adj" fmla="val 551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143000" y="4529137"/>
            <a:ext cx="10287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Walidacja Danych (RegExp):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143000" y="3090862"/>
            <a:ext cx="10287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Zaimplementowano constraint sprawdzający, czy paczka znajduje się tylko w jednym miejscu naraz: numer_skrytki_ID, numer_kursu_ID LUB numer_magazynu_ID.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143000" y="5024437"/>
            <a:ext cx="10287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Wymuszenie poprawności formatów: Kody pocztowe (^[0-9]{2}-[0-9]{3}$), VIN (17 znaków), E-maile.</a:t>
            </a:r>
            <a:endParaRPr/>
          </a:p>
        </p:txBody>
      </p:sp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05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538662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9750" y="381000"/>
            <a:ext cx="21907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381000"/>
            <a:ext cx="11620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Kluczowe Operacje SQL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0" y="1047750"/>
            <a:ext cx="12192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160020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1. Śledzenie Przesyłek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211455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Zapytania łączące tabele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Paczka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Historia_paczki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i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Statusy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w celu odtworzenia pełnej ścieżki logistycznej danej przesyłki dla klienta.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286500" y="160020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2. Raporty Analityczne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286500" y="21145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Wykorzystanie funkcji agregujących (COUNT, SUM) do generowania raportów: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00825" y="29146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667500" y="29146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Suma wpłat wg metod płatności.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600825" y="3219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667500" y="32194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Statystyki obłożenia magazynów.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600825" y="3524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667500" y="35242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Wolne skrytki w danym paczkomacie.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9750" y="381000"/>
            <a:ext cx="21907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2046982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Wyniki Kwerend SQL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571500" y="309473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Prezentacja działania systemu na danych testowych (15+ rekordów na tabelę).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408533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Przykład kwerendy zwracającej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pracowników posortowanych według wynagrodzenia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co pozwala na analizę struktury płac w oddziałach.</a:t>
            </a:r>
            <a:endParaRPr/>
          </a:p>
        </p:txBody>
      </p:sp>
      <p:pic>
        <p:nvPicPr>
          <p:cNvPr id="222" name="Google Shape;2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5700" y="890588"/>
            <a:ext cx="4114800" cy="50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14587"/>
            <a:ext cx="5381625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414587"/>
            <a:ext cx="5381625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571500" y="381000"/>
            <a:ext cx="1162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Doświadczenia</a:t>
            </a:r>
            <a:r>
              <a:rPr lang="en-US" sz="3600" b="0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 i Rozwój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0" y="1047750"/>
            <a:ext cx="12192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36996" y="3586162"/>
            <a:ext cx="5050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Doświadczenia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57250" y="4100512"/>
            <a:ext cx="48101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Największym wyzwaniem było zaprojektowanie unikalności lokalizacji paczki. Zastosowanie constraintów XOR rozwiązało problem duplikacji stanów.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404371" y="3586162"/>
            <a:ext cx="505063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Rozwój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524625" y="410051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Planowane wdrożenie aplikacji mobilnej dla kurierów oraz integracja z zewnętrznymi bramkami płatniczymi.</a:t>
            </a:r>
            <a:endParaRPr/>
          </a:p>
        </p:txBody>
      </p:sp>
      <p:pic>
        <p:nvPicPr>
          <p:cNvPr id="235" name="Google Shape;23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62287" y="27955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01087" y="279558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1833562"/>
            <a:ext cx="102870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3348037"/>
            <a:ext cx="102870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862512"/>
            <a:ext cx="10287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571500" y="381000"/>
            <a:ext cx="11620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BBF24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Literatura</a:t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0" y="1047750"/>
            <a:ext cx="12192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1181100" y="2214562"/>
            <a:ext cx="9867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Connolly T., Begg C.,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Systemy baz danych. Praktyczne metody projektowania, implementacji i zarządzania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Wydawnictwo Helion, Gliwice 2004.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1181100" y="3729037"/>
            <a:ext cx="9867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Visual Paradigm,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Data Flow Diagram (DFD) Tutorial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dostępny w: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FBBF24"/>
                </a:solidFill>
                <a:latin typeface="DM Sans"/>
                <a:ea typeface="DM Sans"/>
                <a:cs typeface="DM Sans"/>
                <a:sym typeface="DM Sans"/>
              </a:rPr>
              <a:t>https://www.visual-paradigm.com/guide/data-flow-diagram/what-is-data-flow-diagram/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1181100" y="5243512"/>
            <a:ext cx="9867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Oracle Corporation,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Oracle SQL Developer Data Modeler User’s Guide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dostępny w: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FBBF24"/>
                </a:solidFill>
                <a:latin typeface="DM Sans"/>
                <a:ea typeface="DM Sans"/>
                <a:cs typeface="DM Sans"/>
                <a:sym typeface="DM Sans"/>
              </a:rPr>
              <a:t>https://docs.oracle.com/en/database/oracle/sql-developer-data-modeler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Microsoft Office PowerPoint</Application>
  <PresentationFormat>Panoramiczny</PresentationFormat>
  <Paragraphs>76</Paragraphs>
  <Slides>12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Calibri</vt:lpstr>
      <vt:lpstr>Arial</vt:lpstr>
      <vt:lpstr>Merriweather</vt:lpstr>
      <vt:lpstr>DM Sans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Jerzy Zegadłowicz</cp:lastModifiedBy>
  <cp:revision>1</cp:revision>
  <dcterms:modified xsi:type="dcterms:W3CDTF">2026-01-18T15:29:28Z</dcterms:modified>
</cp:coreProperties>
</file>